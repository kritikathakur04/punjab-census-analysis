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3" r:id="rId7"/>
    <p:sldId id="270" r:id="rId8"/>
    <p:sldId id="271" r:id="rId9"/>
    <p:sldId id="272" r:id="rId10"/>
    <p:sldId id="274" r:id="rId11"/>
    <p:sldId id="275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E4A"/>
                </a:solidFill>
                <a:latin typeface="Arial"/>
              </a:rPr>
              <a:t>Top 7 Districts by Population (Lakhs)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(Lakhs)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0A-47EB-86AA-10DBABFCF1B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60A-47EB-86AA-10DBABFCF1B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60A-47EB-86AA-10DBABFCF1B9}"/>
              </c:ext>
            </c:extLst>
          </c:dPt>
          <c:dPt>
            <c:idx val="3"/>
            <c:invertIfNegative val="0"/>
            <c:bubble3D val="0"/>
            <c:spPr>
              <a:solidFill>
                <a:srgbClr val="14A8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0A-47EB-86AA-10DBABFCF1B9}"/>
              </c:ext>
            </c:extLst>
          </c:dPt>
          <c:dPt>
            <c:idx val="4"/>
            <c:invertIfNegative val="0"/>
            <c:bubble3D val="0"/>
            <c:spPr>
              <a:solidFill>
                <a:srgbClr val="14A8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60A-47EB-86AA-10DBABFCF1B9}"/>
              </c:ext>
            </c:extLst>
          </c:dPt>
          <c:dPt>
            <c:idx val="5"/>
            <c:invertIfNegative val="0"/>
            <c:bubble3D val="0"/>
            <c:spPr>
              <a:solidFill>
                <a:srgbClr val="14A8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60A-47EB-86AA-10DBABFCF1B9}"/>
              </c:ext>
            </c:extLst>
          </c:dPt>
          <c:dPt>
            <c:idx val="6"/>
            <c:invertIfNegative val="0"/>
            <c:bubble3D val="0"/>
            <c:spPr>
              <a:solidFill>
                <a:srgbClr val="14A8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60A-47EB-86AA-10DBABFCF1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E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Ludhiana</c:v>
                </c:pt>
                <c:pt idx="1">
                  <c:v>Amritsar</c:v>
                </c:pt>
                <c:pt idx="2">
                  <c:v>Jalandhar</c:v>
                </c:pt>
                <c:pt idx="3">
                  <c:v>Patiala</c:v>
                </c:pt>
                <c:pt idx="4">
                  <c:v>Sangrur</c:v>
                </c:pt>
                <c:pt idx="5">
                  <c:v>Gurdaspur</c:v>
                </c:pt>
                <c:pt idx="6">
                  <c:v>Bathinda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34.99</c:v>
                </c:pt>
                <c:pt idx="1">
                  <c:v>24.91</c:v>
                </c:pt>
                <c:pt idx="2">
                  <c:v>21.94</c:v>
                </c:pt>
                <c:pt idx="3">
                  <c:v>18.96</c:v>
                </c:pt>
                <c:pt idx="4">
                  <c:v>16.55</c:v>
                </c:pt>
                <c:pt idx="5">
                  <c:v>16.22</c:v>
                </c:pt>
                <c:pt idx="6">
                  <c:v>13.89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60A-47EB-86AA-10DBABFCF1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E4A"/>
                </a:solidFill>
                <a:latin typeface="Arial"/>
              </a:rPr>
              <a:t>District Sex Ratio (females per 1000 males)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Sex Ratio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6B-496A-B73D-8A34BBE010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F6B-496A-B73D-8A34BBE010C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F6B-496A-B73D-8A34BBE010C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F6B-496A-B73D-8A34BBE010C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F6B-496A-B73D-8A34BBE010C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F6B-496A-B73D-8A34BBE010C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F6B-496A-B73D-8A34BBE010CA}"/>
              </c:ext>
            </c:extLst>
          </c:dPt>
          <c:dPt>
            <c:idx val="7"/>
            <c:invertIfNegative val="0"/>
            <c:bubble3D val="0"/>
            <c:spPr>
              <a:solidFill>
                <a:srgbClr val="F4A5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F6B-496A-B73D-8A34BBE010CA}"/>
              </c:ext>
            </c:extLst>
          </c:dPt>
          <c:dPt>
            <c:idx val="8"/>
            <c:invertIfNegative val="0"/>
            <c:bubble3D val="0"/>
            <c:spPr>
              <a:solidFill>
                <a:srgbClr val="F4A5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F6B-496A-B73D-8A34BBE010CA}"/>
              </c:ext>
            </c:extLst>
          </c:dPt>
          <c:dPt>
            <c:idx val="9"/>
            <c:invertIfNegative val="0"/>
            <c:bubble3D val="0"/>
            <c:spPr>
              <a:solidFill>
                <a:srgbClr val="E05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F6B-496A-B73D-8A34BBE010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E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SBS Nagar</c:v>
                </c:pt>
                <c:pt idx="1">
                  <c:v>Hoshiarpur</c:v>
                </c:pt>
                <c:pt idx="2">
                  <c:v>Jalandhar</c:v>
                </c:pt>
                <c:pt idx="3">
                  <c:v>Rupnagar</c:v>
                </c:pt>
                <c:pt idx="4">
                  <c:v>Kapurthala</c:v>
                </c:pt>
                <c:pt idx="5">
                  <c:v>Gurdaspur</c:v>
                </c:pt>
                <c:pt idx="6">
                  <c:v>Tarn Taran</c:v>
                </c:pt>
                <c:pt idx="7">
                  <c:v>Amritsar</c:v>
                </c:pt>
                <c:pt idx="8">
                  <c:v>Faridkot</c:v>
                </c:pt>
                <c:pt idx="9">
                  <c:v>Bathinda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954</c:v>
                </c:pt>
                <c:pt idx="1">
                  <c:v>961</c:v>
                </c:pt>
                <c:pt idx="2">
                  <c:v>915</c:v>
                </c:pt>
                <c:pt idx="3">
                  <c:v>915</c:v>
                </c:pt>
                <c:pt idx="4">
                  <c:v>912</c:v>
                </c:pt>
                <c:pt idx="5">
                  <c:v>907</c:v>
                </c:pt>
                <c:pt idx="6">
                  <c:v>900</c:v>
                </c:pt>
                <c:pt idx="7">
                  <c:v>889</c:v>
                </c:pt>
                <c:pt idx="8">
                  <c:v>890</c:v>
                </c:pt>
                <c:pt idx="9">
                  <c:v>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F6B-496A-B73D-8A34BBE010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4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A2E4A"/>
                </a:solidFill>
                <a:latin typeface="Arial"/>
              </a:rPr>
              <a:t>Workforce Distribution (Punjab 2011)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Workforce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B2-44F3-8CDC-9ECE166C5FF8}"/>
              </c:ext>
            </c:extLst>
          </c:dPt>
          <c:dPt>
            <c:idx val="1"/>
            <c:bubble3D val="0"/>
            <c:spPr>
              <a:solidFill>
                <a:srgbClr val="F4A5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B2-44F3-8CDC-9ECE166C5FF8}"/>
              </c:ext>
            </c:extLst>
          </c:dPt>
          <c:dPt>
            <c:idx val="2"/>
            <c:bubble3D val="0"/>
            <c:spPr>
              <a:solidFill>
                <a:srgbClr val="E05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B2-44F3-8CDC-9ECE166C5FF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B2-44F3-8CDC-9ECE166C5FF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B2-44F3-8CDC-9ECE166C5FF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B2-44F3-8CDC-9ECE166C5FF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Main Workers (M)</c:v>
                </c:pt>
                <c:pt idx="1">
                  <c:v>Marginal Workers (M)</c:v>
                </c:pt>
                <c:pt idx="2">
                  <c:v>Non-Workers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4510000</c:v>
                </c:pt>
                <c:pt idx="1">
                  <c:v>890000</c:v>
                </c:pt>
                <c:pt idx="2">
                  <c:v>13800000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B2-44F3-8CDC-9ECE166C5F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744"/>
                </a:solidFill>
                <a:latin typeface="Arial"/>
              </a:rPr>
              <a:t>Cluster Distribution (Population vs Worker Rate)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1 (Medium Districts)</c:v>
                </c:pt>
              </c:strCache>
            </c:strRef>
          </c:tx>
          <c:spPr>
            <a:ln w="25400" cap="flat">
              <a:solidFill>
                <a:srgbClr val="34C0C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C0C8"/>
              </a:solidFill>
              <a:ln w="9525" cap="flat">
                <a:solidFill>
                  <a:srgbClr val="34C0C8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26.682536264878173</c:v>
                </c:pt>
                <c:pt idx="1">
                  <c:v>29.234285109102188</c:v>
                </c:pt>
                <c:pt idx="2">
                  <c:v>32.21881171188744</c:v>
                </c:pt>
                <c:pt idx="3">
                  <c:v>35.347021741400539</c:v>
                </c:pt>
                <c:pt idx="4">
                  <c:v>38.522620903837677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27.122093529611405</c:v>
                </c:pt>
                <c:pt idx="1">
                  <c:v>31.545184143402391</c:v>
                </c:pt>
                <c:pt idx="2">
                  <c:v>31.339544982758671</c:v>
                </c:pt>
                <c:pt idx="3">
                  <c:v>35.83287692456333</c:v>
                </c:pt>
                <c:pt idx="4">
                  <c:v>40.087179492014251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9C-476D-B672-3392087B29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2 (Large Districts)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26.682536264878173</c:v>
                </c:pt>
                <c:pt idx="1">
                  <c:v>29.234285109102188</c:v>
                </c:pt>
                <c:pt idx="2">
                  <c:v>32.21881171188744</c:v>
                </c:pt>
                <c:pt idx="3">
                  <c:v>35.347021741400539</c:v>
                </c:pt>
                <c:pt idx="4">
                  <c:v>38.522620903837677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25.118655069278745</c:v>
                </c:pt>
                <c:pt idx="1">
                  <c:v>29.125702638235005</c:v>
                </c:pt>
                <c:pt idx="2">
                  <c:v>31.506795614935797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A9C-476D-B672-3392087B29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02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CENSUS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District-wise Exploratory Data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45720"/>
          </a:xfrm>
          <a:prstGeom prst="rect">
            <a:avLst/>
          </a:prstGeom>
          <a:solidFill>
            <a:srgbClr val="F4A535"/>
          </a:solidFill>
          <a:ln w="12700">
            <a:solidFill>
              <a:srgbClr val="F4A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(Government of India Open Data)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Districts  •  Census Years 1991, 2001, 2011  •  105 Variables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 •  Matplotlib  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  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023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Trends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40233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023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Analysis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40233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4023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40233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8A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577840" y="4023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</a:p>
        </p:txBody>
      </p:sp>
      <p:sp>
        <p:nvSpPr>
          <p:cNvPr id="19" name="Shape 17"/>
          <p:cNvSpPr/>
          <p:nvPr/>
        </p:nvSpPr>
        <p:spPr>
          <a:xfrm>
            <a:off x="7315200" y="40233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7377">
              <a:alpha val="60000"/>
            </a:srgbClr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023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Kritika Thakur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census.xlsx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data.gov.in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914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Districts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Punjab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914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Columns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variables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914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1991–2011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census years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31546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Loaded data using </a:t>
            </a: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pd.read_excel()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Stripped whitespace &amp; lowercased all column names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Replaced missing values (NA) with 0 using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Converted columns to numeric with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pd.to_numeric(errors='ignore')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Goals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320040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172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population growth 1991–2011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52044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gender imbalance patterns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384048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813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workforce participation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416052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Sex Ratio</a:t>
            </a:r>
          </a:p>
        </p:txBody>
      </p:sp>
      <p:sp>
        <p:nvSpPr>
          <p:cNvPr id="31" name="Shape 29"/>
          <p:cNvSpPr/>
          <p:nvPr/>
        </p:nvSpPr>
        <p:spPr>
          <a:xfrm>
            <a:off x="5486400" y="4480560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4453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"/>
              </a:rPr>
              <a:t>Apply ML technique (</a:t>
            </a:r>
            <a:r>
              <a:rPr lang="en-I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"/>
              </a:rPr>
              <a:t> Clustering</a:t>
            </a:r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"/>
              </a:rPr>
              <a:t>) 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libri 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 GROWTH (1991 – 2011)</a:t>
            </a:r>
            <a:endParaRPr lang="en-US" sz="2000" dirty="0"/>
          </a:p>
        </p:txBody>
      </p:sp>
      <p:pic>
        <p:nvPicPr>
          <p:cNvPr id="4" name="Image 0" descr="/home/claude/charts/chart1_pop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4672"/>
            <a:ext cx="585216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80467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8046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Trend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261872"/>
            <a:ext cx="2697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1072" y="12801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1991: 2.03 Cr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 2.44 Cr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2011: 2.71  Cr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2697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9385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Decade growth: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1991→2001: +20.1%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2001→2011: +11.4%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578608"/>
            <a:ext cx="2697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259689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Total growth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 years: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+33.8%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236976"/>
            <a:ext cx="2697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3255264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Urbanisation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drove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rise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895344"/>
            <a:ext cx="269748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39136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Growth 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slowed slightly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 decade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OVERVIEW (2011)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22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201168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22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2011680" cy="12344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22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(2001–2011)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822960"/>
            <a:ext cx="2011680" cy="1234440"/>
          </a:xfrm>
          <a:prstGeom prst="rect">
            <a:avLst/>
          </a:prstGeom>
          <a:solidFill>
            <a:srgbClr val="334E68"/>
          </a:solidFill>
          <a:ln w="12700">
            <a:solidFill>
              <a:srgbClr val="334E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822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1228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Sex Ratio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1000 males)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182880" y="2194560"/>
          <a:ext cx="5486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897880" y="2194560"/>
            <a:ext cx="3017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9788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Trend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2743200"/>
            <a:ext cx="1607149" cy="347472"/>
          </a:xfrm>
          <a:prstGeom prst="rect">
            <a:avLst/>
          </a:prstGeom>
          <a:solidFill>
            <a:srgbClr val="D0EFF0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2743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7909" y="27432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 Cr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3337560"/>
            <a:ext cx="1930481" cy="347472"/>
          </a:xfrm>
          <a:prstGeom prst="rect">
            <a:avLst/>
          </a:prstGeom>
          <a:solidFill>
            <a:srgbClr val="14A8AE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337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11241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 Cr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931920"/>
            <a:ext cx="2150791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39319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31551" y="39319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 Cr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9788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growth 1991→2011: +33.8%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SEX RATIO (2011)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5303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77724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777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Highest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0372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Hoshiarpur (961)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 Nagar (954)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874520"/>
            <a:ext cx="30175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98424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Lowest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03720" y="1984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Bathinda (868)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Amritsar (889)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578608"/>
            <a:ext cx="30175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6883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Punjab Avg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268833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896 (below national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of 940)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282696"/>
            <a:ext cx="30175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39242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Child SR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339242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child sex ratio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818–884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986784"/>
            <a:ext cx="30175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096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Concern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03720" y="40965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districts below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mark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ANALYSIS (2011)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822960"/>
          <a:ext cx="4389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14400"/>
            <a:ext cx="4114800" cy="566928"/>
          </a:xfrm>
          <a:prstGeom prst="rect">
            <a:avLst/>
          </a:prstGeom>
          <a:solidFill>
            <a:srgbClr val="D0EF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9144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Main Workers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9144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~45.1 Lakh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61848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618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Marginal Workers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6184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~8.9 Lakh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322576"/>
            <a:ext cx="4114800" cy="566928"/>
          </a:xfrm>
          <a:prstGeom prst="rect">
            <a:avLst/>
          </a:prstGeom>
          <a:solidFill>
            <a:srgbClr val="D0EF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23225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Non-Workers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23225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~1.38 Cr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02666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0266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Worker 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30266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~27–35%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3730752"/>
            <a:ext cx="4114800" cy="566928"/>
          </a:xfrm>
          <a:prstGeom prst="rect">
            <a:avLst/>
          </a:prstGeom>
          <a:solidFill>
            <a:srgbClr val="D0EF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7307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Dependency Ratio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37307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 rural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 vs POPULATION GROWTH — SCATTER PLOT</a:t>
            </a:r>
            <a:endParaRPr lang="en-US" sz="2000" dirty="0"/>
          </a:p>
        </p:txBody>
      </p:sp>
      <p:pic>
        <p:nvPicPr>
          <p:cNvPr id="4" name="Image 0" descr="/home/claude/charts/chart5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4672"/>
            <a:ext cx="61264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804672"/>
            <a:ext cx="2423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804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1261872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128016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(females/1000 males)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92240" y="1874520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189280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(%)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92240" y="2487168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250545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rank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(green=large dist.)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3099816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311810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No clear link: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doesn't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high sex ratio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92240" y="3712464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37307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SAS Nagar: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growth but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sex ratio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92240" y="4325112"/>
            <a:ext cx="242316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434340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Hoshiarpur: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sex ratio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growth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AB494E1A-52B4-8685-A802-C09A8AAE6D94}"/>
              </a:ext>
            </a:extLst>
          </p:cNvPr>
          <p:cNvSpPr/>
          <p:nvPr/>
        </p:nvSpPr>
        <p:spPr>
          <a:xfrm>
            <a:off x="274320" y="7452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— Population 2011</a:t>
            </a:r>
            <a:endParaRPr lang="en-US" sz="13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8D58CDF-7580-B9CE-688E-121850940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1850"/>
              </p:ext>
            </p:extLst>
          </p:nvPr>
        </p:nvGraphicFramePr>
        <p:xfrm>
          <a:off x="274320" y="1129284"/>
          <a:ext cx="475488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2011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Pop (Rural)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1,233,788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765,906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215,168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25th %ile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678,605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53,524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999,310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86,383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75th %ile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1,612,950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121,990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3,498,739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148,970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3">
            <a:extLst>
              <a:ext uri="{FF2B5EF4-FFF2-40B4-BE49-F238E27FC236}">
                <a16:creationId xmlns:a16="http://schemas.microsoft.com/office/drawing/2014/main" id="{C5676421-7BCF-AAA3-AB01-4EE72ED35E34}"/>
              </a:ext>
            </a:extLst>
          </p:cNvPr>
          <p:cNvSpPr/>
          <p:nvPr/>
        </p:nvSpPr>
        <p:spPr>
          <a:xfrm>
            <a:off x="5257800" y="7452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Insights</a:t>
            </a:r>
            <a:endParaRPr lang="en-US" sz="13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6A2B59C-432E-49CC-76EC-FBA83C48C754}"/>
              </a:ext>
            </a:extLst>
          </p:cNvPr>
          <p:cNvSpPr/>
          <p:nvPr/>
        </p:nvSpPr>
        <p:spPr>
          <a:xfrm>
            <a:off x="5257800" y="1129284"/>
            <a:ext cx="356616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D0D9E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1F5B253-0687-9957-CA87-224C30AB376F}"/>
              </a:ext>
            </a:extLst>
          </p:cNvPr>
          <p:cNvSpPr/>
          <p:nvPr/>
        </p:nvSpPr>
        <p:spPr>
          <a:xfrm>
            <a:off x="5376672" y="115671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Correlation</a:t>
            </a:r>
            <a:endParaRPr lang="en-US" sz="10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DA488BD-32E7-8512-9BF6-DBE666A528B0}"/>
              </a:ext>
            </a:extLst>
          </p:cNvPr>
          <p:cNvSpPr/>
          <p:nvPr/>
        </p:nvSpPr>
        <p:spPr>
          <a:xfrm>
            <a:off x="5376672" y="140360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Pop-2011 vs Pop-2001: r = 0.879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3980BDA-3941-9138-C5B2-388E95B5B10A}"/>
              </a:ext>
            </a:extLst>
          </p:cNvPr>
          <p:cNvSpPr/>
          <p:nvPr/>
        </p:nvSpPr>
        <p:spPr>
          <a:xfrm>
            <a:off x="5257800" y="1741932"/>
            <a:ext cx="3566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E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5D3218C-8809-E500-2D39-C9BDEF423342}"/>
              </a:ext>
            </a:extLst>
          </p:cNvPr>
          <p:cNvSpPr/>
          <p:nvPr/>
        </p:nvSpPr>
        <p:spPr>
          <a:xfrm>
            <a:off x="5376672" y="176936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Growth Outliers</a:t>
            </a:r>
            <a:endParaRPr lang="en-US" sz="10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13C9017-18B4-46E6-98B1-2630FF23F063}"/>
              </a:ext>
            </a:extLst>
          </p:cNvPr>
          <p:cNvSpPr/>
          <p:nvPr/>
        </p:nvSpPr>
        <p:spPr>
          <a:xfrm>
            <a:off x="5376672" y="201625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Nagar 33.2%, Patiala 19.6%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128BDD0-93FA-27BF-724B-BFB349FF5EF7}"/>
              </a:ext>
            </a:extLst>
          </p:cNvPr>
          <p:cNvSpPr/>
          <p:nvPr/>
        </p:nvSpPr>
        <p:spPr>
          <a:xfrm>
            <a:off x="5257800" y="2354580"/>
            <a:ext cx="356616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D0D9EE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17F203F-7D21-4F26-6239-FFC082881344}"/>
              </a:ext>
            </a:extLst>
          </p:cNvPr>
          <p:cNvSpPr/>
          <p:nvPr/>
        </p:nvSpPr>
        <p:spPr>
          <a:xfrm>
            <a:off x="5376672" y="238201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Literacy–Work</a:t>
            </a:r>
            <a:endParaRPr lang="en-US" sz="10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F2D8420-B86A-85F4-3826-D204D4A07A4F}"/>
              </a:ext>
            </a:extLst>
          </p:cNvPr>
          <p:cNvSpPr/>
          <p:nvPr/>
        </p:nvSpPr>
        <p:spPr>
          <a:xfrm>
            <a:off x="5376672" y="262890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positively correlated with main workers</a:t>
            </a:r>
            <a:endParaRPr lang="en-US" sz="10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2B17783F-82FA-3850-CDFD-D570F3E3CFFE}"/>
              </a:ext>
            </a:extLst>
          </p:cNvPr>
          <p:cNvSpPr/>
          <p:nvPr/>
        </p:nvSpPr>
        <p:spPr>
          <a:xfrm>
            <a:off x="5257800" y="2967228"/>
            <a:ext cx="3566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E"/>
            </a:solidFill>
            <a:prstDash val="solid"/>
          </a:ln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7A2DE6C-6BFD-B09B-D3B9-2F3187B4609E}"/>
              </a:ext>
            </a:extLst>
          </p:cNvPr>
          <p:cNvSpPr/>
          <p:nvPr/>
        </p:nvSpPr>
        <p:spPr>
          <a:xfrm>
            <a:off x="5372100" y="302209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Child Pop</a:t>
            </a:r>
            <a:endParaRPr lang="en-US" sz="105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D6687312-E60C-9B7E-E570-38500B64491D}"/>
              </a:ext>
            </a:extLst>
          </p:cNvPr>
          <p:cNvSpPr/>
          <p:nvPr/>
        </p:nvSpPr>
        <p:spPr>
          <a:xfrm>
            <a:off x="5372100" y="324154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88K rural children; Max 148,970(1.48L)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7849A70F-BC16-1AF5-5C84-AD415919A46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3F7C"/>
          </a:solidFill>
          <a:ln w="12700">
            <a:solidFill>
              <a:srgbClr val="2D3F7C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516E86B-AED1-BFD7-A416-E49DF42AC6E8}"/>
              </a:ext>
            </a:extLst>
          </p:cNvPr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34282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83B91E-9727-04DE-F51E-8F5FF9840E0E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666CF9-8CB4-A2F9-93FC-48AE541DC963}"/>
              </a:ext>
            </a:extLst>
          </p:cNvPr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A80DA9-57A9-B65D-D192-1A150C54DDED}"/>
              </a:ext>
            </a:extLst>
          </p:cNvPr>
          <p:cNvSpPr/>
          <p:nvPr/>
        </p:nvSpPr>
        <p:spPr>
          <a:xfrm>
            <a:off x="274320" y="89611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9E4D51-89EF-A891-EBED-FC95EED76E8C}"/>
              </a:ext>
            </a:extLst>
          </p:cNvPr>
          <p:cNvSpPr/>
          <p:nvPr/>
        </p:nvSpPr>
        <p:spPr>
          <a:xfrm>
            <a:off x="274320" y="896112"/>
            <a:ext cx="256032" cy="1234440"/>
          </a:xfrm>
          <a:prstGeom prst="rect">
            <a:avLst/>
          </a:prstGeom>
          <a:solidFill>
            <a:srgbClr val="3B6EC8"/>
          </a:solidFill>
          <a:ln w="12700">
            <a:solidFill>
              <a:srgbClr val="3B6EC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17960E-0832-27AB-6A76-777CCB6DCF1F}"/>
              </a:ext>
            </a:extLst>
          </p:cNvPr>
          <p:cNvSpPr/>
          <p:nvPr/>
        </p:nvSpPr>
        <p:spPr>
          <a:xfrm>
            <a:off x="621792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CCCB21-B717-ADEA-5C1E-DF7268A7E24B}"/>
              </a:ext>
            </a:extLst>
          </p:cNvPr>
          <p:cNvSpPr/>
          <p:nvPr/>
        </p:nvSpPr>
        <p:spPr>
          <a:xfrm>
            <a:off x="621792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((Pop₂₀₁₁ − Pop₂₀₀₁) / Pop₂₀₀₁) × 100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5601A9-0CAC-EC81-2E4A-B22C9A27779B}"/>
              </a:ext>
            </a:extLst>
          </p:cNvPr>
          <p:cNvSpPr/>
          <p:nvPr/>
        </p:nvSpPr>
        <p:spPr>
          <a:xfrm>
            <a:off x="621792" y="15087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SAS Nagar: 33.2% | Patiala: 19.6%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D1C231-4229-B891-23C5-B0D5D09BA1A3}"/>
              </a:ext>
            </a:extLst>
          </p:cNvPr>
          <p:cNvSpPr/>
          <p:nvPr/>
        </p:nvSpPr>
        <p:spPr>
          <a:xfrm>
            <a:off x="621792" y="17465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ML feature, trend analysis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57E235F-CD1D-A41D-434B-6AF45227A0CF}"/>
              </a:ext>
            </a:extLst>
          </p:cNvPr>
          <p:cNvSpPr/>
          <p:nvPr/>
        </p:nvSpPr>
        <p:spPr>
          <a:xfrm>
            <a:off x="4754880" y="89611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9A7454-FDF9-291F-A506-BFBB2771331A}"/>
              </a:ext>
            </a:extLst>
          </p:cNvPr>
          <p:cNvSpPr/>
          <p:nvPr/>
        </p:nvSpPr>
        <p:spPr>
          <a:xfrm>
            <a:off x="4754880" y="896112"/>
            <a:ext cx="256032" cy="1234440"/>
          </a:xfrm>
          <a:prstGeom prst="rect">
            <a:avLst/>
          </a:prstGeom>
          <a:solidFill>
            <a:srgbClr val="34C0C8"/>
          </a:solidFill>
          <a:ln w="12700">
            <a:solidFill>
              <a:srgbClr val="34C0C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752D76-4C0C-1459-31F1-9826CDAE1F04}"/>
              </a:ext>
            </a:extLst>
          </p:cNvPr>
          <p:cNvSpPr/>
          <p:nvPr/>
        </p:nvSpPr>
        <p:spPr>
          <a:xfrm>
            <a:off x="5102352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Ratio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775342D-8529-E1D0-DB72-6B7E91AE3127}"/>
              </a:ext>
            </a:extLst>
          </p:cNvPr>
          <p:cNvSpPr/>
          <p:nvPr/>
        </p:nvSpPr>
        <p:spPr>
          <a:xfrm>
            <a:off x="5102352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(Female₂₀₁₁ / Male₂₀₁₁) × 1000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623894C-1B25-DDEE-D48D-18C85907E36B}"/>
              </a:ext>
            </a:extLst>
          </p:cNvPr>
          <p:cNvSpPr/>
          <p:nvPr/>
        </p:nvSpPr>
        <p:spPr>
          <a:xfrm>
            <a:off x="5102352" y="15087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Females per 1000 males by district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9DEC650-A6FE-A106-83E4-07A44961071B}"/>
              </a:ext>
            </a:extLst>
          </p:cNvPr>
          <p:cNvSpPr/>
          <p:nvPr/>
        </p:nvSpPr>
        <p:spPr>
          <a:xfrm>
            <a:off x="5102352" y="17465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Gender analysis, ML feature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6751FBD-6313-C9D9-16A4-3E37CE63B71C}"/>
              </a:ext>
            </a:extLst>
          </p:cNvPr>
          <p:cNvSpPr/>
          <p:nvPr/>
        </p:nvSpPr>
        <p:spPr>
          <a:xfrm>
            <a:off x="274320" y="2249424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1C1822D-B469-B3C4-4E11-6F357B2597C8}"/>
              </a:ext>
            </a:extLst>
          </p:cNvPr>
          <p:cNvSpPr/>
          <p:nvPr/>
        </p:nvSpPr>
        <p:spPr>
          <a:xfrm>
            <a:off x="274320" y="2249424"/>
            <a:ext cx="256032" cy="1234440"/>
          </a:xfrm>
          <a:prstGeom prst="rect">
            <a:avLst/>
          </a:prstGeom>
          <a:solidFill>
            <a:srgbClr val="2D3F7C"/>
          </a:solidFill>
          <a:ln w="12700">
            <a:solidFill>
              <a:srgbClr val="2D3F7C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C4F4499-1580-6B4F-3315-701819246CC4}"/>
              </a:ext>
            </a:extLst>
          </p:cNvPr>
          <p:cNvSpPr/>
          <p:nvPr/>
        </p:nvSpPr>
        <p:spPr>
          <a:xfrm>
            <a:off x="621792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Rate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D22937-5047-BA55-57B9-8D9F7FBCA5AC}"/>
              </a:ext>
            </a:extLst>
          </p:cNvPr>
          <p:cNvSpPr/>
          <p:nvPr/>
        </p:nvSpPr>
        <p:spPr>
          <a:xfrm>
            <a:off x="621792" y="2596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Workers / Pop₂₀₁₁) × 100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C702A05-B396-D1DD-6656-41DC0E8596BA}"/>
              </a:ext>
            </a:extLst>
          </p:cNvPr>
          <p:cNvSpPr/>
          <p:nvPr/>
        </p:nvSpPr>
        <p:spPr>
          <a:xfrm>
            <a:off x="621792" y="2862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% of population actively working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9D5F30-8347-9715-7DF5-E49EA22F3AC9}"/>
              </a:ext>
            </a:extLst>
          </p:cNvPr>
          <p:cNvSpPr/>
          <p:nvPr/>
        </p:nvSpPr>
        <p:spPr>
          <a:xfrm>
            <a:off x="621792" y="30998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ML target variable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6E0E1E2-6D73-78B4-77A2-4F2A2AACB633}"/>
              </a:ext>
            </a:extLst>
          </p:cNvPr>
          <p:cNvSpPr/>
          <p:nvPr/>
        </p:nvSpPr>
        <p:spPr>
          <a:xfrm>
            <a:off x="4754880" y="2249424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78A4408-CF5C-738A-6427-DBFC02173EBB}"/>
              </a:ext>
            </a:extLst>
          </p:cNvPr>
          <p:cNvSpPr/>
          <p:nvPr/>
        </p:nvSpPr>
        <p:spPr>
          <a:xfrm>
            <a:off x="4754880" y="2249424"/>
            <a:ext cx="25603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F76968-00B9-F0DC-8AF5-8719C408D3C2}"/>
              </a:ext>
            </a:extLst>
          </p:cNvPr>
          <p:cNvSpPr/>
          <p:nvPr/>
        </p:nvSpPr>
        <p:spPr>
          <a:xfrm>
            <a:off x="5102352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Ratio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F79FCB2-DEDF-A6F7-F386-39DDB493388F}"/>
              </a:ext>
            </a:extLst>
          </p:cNvPr>
          <p:cNvSpPr/>
          <p:nvPr/>
        </p:nvSpPr>
        <p:spPr>
          <a:xfrm>
            <a:off x="5102352" y="2596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Non-Workers / Total Workers</a:t>
            </a:r>
            <a:endParaRPr lang="en-US" sz="10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B01EEE9-53A8-6873-D1EF-DD954EBF8142}"/>
              </a:ext>
            </a:extLst>
          </p:cNvPr>
          <p:cNvSpPr/>
          <p:nvPr/>
        </p:nvSpPr>
        <p:spPr>
          <a:xfrm>
            <a:off x="5102352" y="2862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Economic burden per active worker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7E0298D-3788-A97E-02F4-E57FC4425B9A}"/>
              </a:ext>
            </a:extLst>
          </p:cNvPr>
          <p:cNvSpPr/>
          <p:nvPr/>
        </p:nvSpPr>
        <p:spPr>
          <a:xfrm>
            <a:off x="5102352" y="30998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Socio-economic profiling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FC799D1-6366-1E8B-DEE5-3338CDCED983}"/>
              </a:ext>
            </a:extLst>
          </p:cNvPr>
          <p:cNvSpPr/>
          <p:nvPr/>
        </p:nvSpPr>
        <p:spPr>
          <a:xfrm>
            <a:off x="274320" y="3602736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BF60609-60F2-ED0E-8B4D-C9B48946DB6F}"/>
              </a:ext>
            </a:extLst>
          </p:cNvPr>
          <p:cNvSpPr/>
          <p:nvPr/>
        </p:nvSpPr>
        <p:spPr>
          <a:xfrm>
            <a:off x="274320" y="3602736"/>
            <a:ext cx="256032" cy="1234440"/>
          </a:xfrm>
          <a:prstGeom prst="rect">
            <a:avLst/>
          </a:prstGeom>
          <a:solidFill>
            <a:srgbClr val="3B6EC8"/>
          </a:solidFill>
          <a:ln w="12700">
            <a:solidFill>
              <a:srgbClr val="3B6EC8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AE47A6D-239B-4309-CD43-70B891FCB67A}"/>
              </a:ext>
            </a:extLst>
          </p:cNvPr>
          <p:cNvSpPr/>
          <p:nvPr/>
        </p:nvSpPr>
        <p:spPr>
          <a:xfrm>
            <a:off x="621792" y="3666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 Ratio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2BF6E2D-E968-F896-3782-975A90A9CB6F}"/>
              </a:ext>
            </a:extLst>
          </p:cNvPr>
          <p:cNvSpPr/>
          <p:nvPr/>
        </p:nvSpPr>
        <p:spPr>
          <a:xfrm>
            <a:off x="621792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Total / (Rural + Urban Total)</a:t>
            </a:r>
            <a:endParaRPr lang="en-US" sz="10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A78D086-BF57-2789-F78F-C66CC0649821}"/>
              </a:ext>
            </a:extLst>
          </p:cNvPr>
          <p:cNvSpPr/>
          <p:nvPr/>
        </p:nvSpPr>
        <p:spPr>
          <a:xfrm>
            <a:off x="621792" y="42153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SAS Nagar highest urbanized district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4413246-CF0A-A9D5-F6A8-690FC5794E76}"/>
              </a:ext>
            </a:extLst>
          </p:cNvPr>
          <p:cNvSpPr/>
          <p:nvPr/>
        </p:nvSpPr>
        <p:spPr>
          <a:xfrm>
            <a:off x="621792" y="44531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Rural-urban split analysis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899AD14-367F-A5CB-0445-09C2C97CC649}"/>
              </a:ext>
            </a:extLst>
          </p:cNvPr>
          <p:cNvSpPr/>
          <p:nvPr/>
        </p:nvSpPr>
        <p:spPr>
          <a:xfrm>
            <a:off x="4754880" y="3602736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4BFB4BC-39F3-0E3D-244D-D26B012BBF36}"/>
              </a:ext>
            </a:extLst>
          </p:cNvPr>
          <p:cNvSpPr/>
          <p:nvPr/>
        </p:nvSpPr>
        <p:spPr>
          <a:xfrm>
            <a:off x="4754880" y="3602736"/>
            <a:ext cx="256032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AE5CCB1-DBD0-C770-88D3-962665B9A018}"/>
              </a:ext>
            </a:extLst>
          </p:cNvPr>
          <p:cNvSpPr/>
          <p:nvPr/>
        </p:nvSpPr>
        <p:spPr>
          <a:xfrm>
            <a:off x="5102352" y="3666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Gap</a:t>
            </a:r>
            <a:endParaRPr lang="en-US" sz="13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72109C4-F05B-82CD-C13D-2B7D103AE919}"/>
              </a:ext>
            </a:extLst>
          </p:cNvPr>
          <p:cNvSpPr/>
          <p:nvPr/>
        </p:nvSpPr>
        <p:spPr>
          <a:xfrm>
            <a:off x="5102352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Literate −  Female Literate</a:t>
            </a:r>
            <a:endParaRPr lang="en-US" sz="10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130A044-DF7F-D0FB-D8F8-E8D9C2F6F749}"/>
              </a:ext>
            </a:extLst>
          </p:cNvPr>
          <p:cNvSpPr/>
          <p:nvPr/>
        </p:nvSpPr>
        <p:spPr>
          <a:xfrm>
            <a:off x="5102352" y="42153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All 23 districts = Low Equality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518860B-EB34-E556-7359-A62F8FA4B755}"/>
              </a:ext>
            </a:extLst>
          </p:cNvPr>
          <p:cNvSpPr/>
          <p:nvPr/>
        </p:nvSpPr>
        <p:spPr>
          <a:xfrm>
            <a:off x="5102352" y="44531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Gender equity tracking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7690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206B75-F5C8-62CB-553F-0819F2AA8D2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9DAE8-7619-E23D-38D1-1FC7A69A1C80}"/>
              </a:ext>
            </a:extLst>
          </p:cNvPr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 — K-MEANS CLUSTERING (District Grouping)</a:t>
            </a:r>
            <a:endParaRPr lang="en-US" sz="19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C99FF152-651D-2F04-8C4F-49D07B270E93}"/>
              </a:ext>
            </a:extLst>
          </p:cNvPr>
          <p:cNvGraphicFramePr/>
          <p:nvPr/>
        </p:nvGraphicFramePr>
        <p:xfrm>
          <a:off x="274320" y="8229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A9E03ED2-EA96-2C4C-131B-2B1E5DFB6F50}"/>
              </a:ext>
            </a:extLst>
          </p:cNvPr>
          <p:cNvSpPr/>
          <p:nvPr/>
        </p:nvSpPr>
        <p:spPr>
          <a:xfrm>
            <a:off x="5577840" y="822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Details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8041EC7-9846-4BD7-527D-F7EC09F11B14}"/>
              </a:ext>
            </a:extLst>
          </p:cNvPr>
          <p:cNvSpPr/>
          <p:nvPr/>
        </p:nvSpPr>
        <p:spPr>
          <a:xfrm>
            <a:off x="5577840" y="1261872"/>
            <a:ext cx="3291840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A2C8FFC-C589-46E0-1CFE-A7155E47DC99}"/>
              </a:ext>
            </a:extLst>
          </p:cNvPr>
          <p:cNvSpPr/>
          <p:nvPr/>
        </p:nvSpPr>
        <p:spPr>
          <a:xfrm>
            <a:off x="5577840" y="1261872"/>
            <a:ext cx="502920" cy="1443228"/>
          </a:xfrm>
          <a:prstGeom prst="rect">
            <a:avLst/>
          </a:prstGeom>
          <a:solidFill>
            <a:srgbClr val="34C0C8"/>
          </a:solidFill>
          <a:ln w="12700">
            <a:solidFill>
              <a:srgbClr val="34C0C8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8570838-7CBA-7D74-539F-EE0AAECF929D}"/>
              </a:ext>
            </a:extLst>
          </p:cNvPr>
          <p:cNvSpPr/>
          <p:nvPr/>
        </p:nvSpPr>
        <p:spPr>
          <a:xfrm>
            <a:off x="6080760" y="1485136"/>
            <a:ext cx="2651760" cy="2294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CD4D0AA-AABF-396D-73DE-40DE5D3C7F8B}"/>
              </a:ext>
            </a:extLst>
          </p:cNvPr>
          <p:cNvSpPr/>
          <p:nvPr/>
        </p:nvSpPr>
        <p:spPr>
          <a:xfrm>
            <a:off x="5577840" y="2823971"/>
            <a:ext cx="502920" cy="1199389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1D6F24D-C762-A1C1-3719-49BEAC7CB1F4}"/>
              </a:ext>
            </a:extLst>
          </p:cNvPr>
          <p:cNvSpPr/>
          <p:nvPr/>
        </p:nvSpPr>
        <p:spPr>
          <a:xfrm>
            <a:off x="5577840" y="4206240"/>
            <a:ext cx="329184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5426F8B-D55E-95D5-5EC4-EE37FDC36785}"/>
              </a:ext>
            </a:extLst>
          </p:cNvPr>
          <p:cNvSpPr/>
          <p:nvPr/>
        </p:nvSpPr>
        <p:spPr>
          <a:xfrm>
            <a:off x="5687568" y="4206240"/>
            <a:ext cx="30723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2011 · Sex Ratio 2011 · Worker Rate
</a:t>
            </a: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050" i="1" dirty="0">
                <a:solidFill>
                  <a:srgbClr val="3B6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KMeans(n_clusters=3)</a:t>
            </a:r>
            <a:endParaRPr lang="en-US" sz="10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E23CC06-A33A-1C63-DC7E-65A2EB69C4C2}"/>
              </a:ext>
            </a:extLst>
          </p:cNvPr>
          <p:cNvSpPr/>
          <p:nvPr/>
        </p:nvSpPr>
        <p:spPr>
          <a:xfrm>
            <a:off x="274320" y="4160520"/>
            <a:ext cx="5029200" cy="7040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46CA738-7602-B46A-E06D-4F24EEAA1F07}"/>
              </a:ext>
            </a:extLst>
          </p:cNvPr>
          <p:cNvSpPr/>
          <p:nvPr/>
        </p:nvSpPr>
        <p:spPr>
          <a:xfrm>
            <a:off x="365760" y="417880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C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Scikit-</a:t>
            </a:r>
            <a:r>
              <a:rPr lang="en-US" sz="1000" dirty="0" err="1">
                <a:solidFill>
                  <a:srgbClr val="34C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learn.cluster</a:t>
            </a:r>
            <a:r>
              <a:rPr lang="en-US" sz="1000" dirty="0">
                <a:solidFill>
                  <a:srgbClr val="34C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KMeans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C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C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data['cluster'] = kmeans.fit_predict(X)</a:t>
            </a:r>
            <a:endParaRPr lang="en-US" sz="1000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9341AB4C-95A9-474C-5FDE-99E05F5DA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280" y="1340736"/>
            <a:ext cx="2616240" cy="2285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Applied </a:t>
            </a:r>
            <a:r>
              <a:rPr kumimoji="0" lang="en-US" altLang="en-US" sz="9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K-Means clustering (k = 3)</a:t>
            </a: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group districts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Features used: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Population (2011)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Worker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Sex Ratio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Districts grouped into: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Cluster 0 (Small Districts)</a:t>
            </a:r>
            <a:b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 population, moderate workforce-Mansa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</a:t>
            </a:r>
            <a:r>
              <a:rPr kumimoji="0" lang="en-US" altLang="en-US" sz="9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 1 (Medium Districts)</a:t>
            </a:r>
            <a:b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population, mixed characteristics-Patiala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</a:t>
            </a:r>
            <a:r>
              <a:rPr kumimoji="0" lang="en-US" altLang="en-US" sz="9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 2 (Large Districts)</a:t>
            </a:r>
            <a:b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9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 population, more urban &amp; developed-Ludhiana</a:t>
            </a:r>
          </a:p>
        </p:txBody>
      </p:sp>
    </p:spTree>
    <p:extLst>
      <p:ext uri="{BB962C8B-B14F-4D97-AF65-F5344CB8AC3E}">
        <p14:creationId xmlns:p14="http://schemas.microsoft.com/office/powerpoint/2010/main" val="154508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extLst>
              <a:ext uri="{FF2B5EF4-FFF2-40B4-BE49-F238E27FC236}">
                <a16:creationId xmlns:a16="http://schemas.microsoft.com/office/drawing/2014/main" id="{BD53AB0B-74ED-79CA-BE5A-5A257791F19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042DC3-5C57-D859-E660-6E70E3A4A0E4}"/>
              </a:ext>
            </a:extLst>
          </p:cNvPr>
          <p:cNvSpPr/>
          <p:nvPr/>
        </p:nvSpPr>
        <p:spPr>
          <a:xfrm>
            <a:off x="365760" y="8229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4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C0EDE6-8B90-58CE-CE95-D02A8300CA44}"/>
              </a:ext>
            </a:extLst>
          </p:cNvPr>
          <p:cNvSpPr/>
          <p:nvPr/>
        </p:nvSpPr>
        <p:spPr>
          <a:xfrm>
            <a:off x="274320" y="841248"/>
            <a:ext cx="2743200" cy="411480"/>
          </a:xfrm>
          <a:prstGeom prst="rect">
            <a:avLst/>
          </a:prstGeom>
          <a:solidFill>
            <a:srgbClr val="3B6EC8"/>
          </a:solidFill>
          <a:ln w="12700">
            <a:solidFill>
              <a:srgbClr val="3B6EC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FEE69B-8ECF-51D5-9D63-FEEBCB3AA400}"/>
              </a:ext>
            </a:extLst>
          </p:cNvPr>
          <p:cNvSpPr/>
          <p:nvPr/>
        </p:nvSpPr>
        <p:spPr>
          <a:xfrm>
            <a:off x="27432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83EF1C-4D6A-3A87-A1AC-091CE3019A21}"/>
              </a:ext>
            </a:extLst>
          </p:cNvPr>
          <p:cNvSpPr/>
          <p:nvPr/>
        </p:nvSpPr>
        <p:spPr>
          <a:xfrm>
            <a:off x="274320" y="1298448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B67A03-159E-EAF8-F497-8236771D4F2D}"/>
              </a:ext>
            </a:extLst>
          </p:cNvPr>
          <p:cNvSpPr/>
          <p:nvPr/>
        </p:nvSpPr>
        <p:spPr>
          <a:xfrm>
            <a:off x="384048" y="12984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grew 34% in 20 years (1991–2011)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A56D34D-64F0-1785-D4AB-CD77FDAA2065}"/>
              </a:ext>
            </a:extLst>
          </p:cNvPr>
          <p:cNvSpPr/>
          <p:nvPr/>
        </p:nvSpPr>
        <p:spPr>
          <a:xfrm>
            <a:off x="274320" y="1956816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1C20DD-E243-63D5-13A1-F15DB4B693FA}"/>
              </a:ext>
            </a:extLst>
          </p:cNvPr>
          <p:cNvSpPr/>
          <p:nvPr/>
        </p:nvSpPr>
        <p:spPr>
          <a:xfrm>
            <a:off x="384048" y="1956816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Ludhiana: most populous (3.5M)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D28DECF-2E63-FC0D-AEC9-C555F524A132}"/>
              </a:ext>
            </a:extLst>
          </p:cNvPr>
          <p:cNvSpPr/>
          <p:nvPr/>
        </p:nvSpPr>
        <p:spPr>
          <a:xfrm>
            <a:off x="274320" y="2615184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BCE806-59F6-AAFA-152E-3BB5AA6C7E14}"/>
              </a:ext>
            </a:extLst>
          </p:cNvPr>
          <p:cNvSpPr/>
          <p:nvPr/>
        </p:nvSpPr>
        <p:spPr>
          <a:xfrm>
            <a:off x="384048" y="2615184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 districts showed population growth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1AB5DE8-4E94-5E58-5508-B1F395E5DED1}"/>
              </a:ext>
            </a:extLst>
          </p:cNvPr>
          <p:cNvSpPr/>
          <p:nvPr/>
        </p:nvSpPr>
        <p:spPr>
          <a:xfrm>
            <a:off x="274320" y="3273552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BF2BFF5-AB2D-3E18-CA04-D87E23F20425}"/>
              </a:ext>
            </a:extLst>
          </p:cNvPr>
          <p:cNvSpPr/>
          <p:nvPr/>
        </p:nvSpPr>
        <p:spPr>
          <a:xfrm>
            <a:off x="384048" y="327355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sex ratio of 896 is below national average.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5A657D-2DAA-1C08-A090-77977FBFDF9E}"/>
              </a:ext>
            </a:extLst>
          </p:cNvPr>
          <p:cNvSpPr/>
          <p:nvPr/>
        </p:nvSpPr>
        <p:spPr>
          <a:xfrm>
            <a:off x="274320" y="3931920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FB479E-43C7-B42A-0F11-D27679A96168}"/>
              </a:ext>
            </a:extLst>
          </p:cNvPr>
          <p:cNvSpPr/>
          <p:nvPr/>
        </p:nvSpPr>
        <p:spPr>
          <a:xfrm>
            <a:off x="384048" y="393192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ratio and significant non-worker population indicate economic challenges, especially in rural areas.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DFA965B-9A92-5C5A-2C05-E99340E87B22}"/>
              </a:ext>
            </a:extLst>
          </p:cNvPr>
          <p:cNvSpPr/>
          <p:nvPr/>
        </p:nvSpPr>
        <p:spPr>
          <a:xfrm>
            <a:off x="3200400" y="841248"/>
            <a:ext cx="2743200" cy="411480"/>
          </a:xfrm>
          <a:prstGeom prst="rect">
            <a:avLst/>
          </a:prstGeom>
          <a:solidFill>
            <a:srgbClr val="34C0C8"/>
          </a:solidFill>
          <a:ln w="12700">
            <a:solidFill>
              <a:srgbClr val="34C0C8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ED5DF5-F086-5244-6434-F8DAEE954264}"/>
              </a:ext>
            </a:extLst>
          </p:cNvPr>
          <p:cNvSpPr/>
          <p:nvPr/>
        </p:nvSpPr>
        <p:spPr>
          <a:xfrm>
            <a:off x="320040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FDE246A-A27B-33FB-1DD4-C84707C212A1}"/>
              </a:ext>
            </a:extLst>
          </p:cNvPr>
          <p:cNvSpPr/>
          <p:nvPr/>
        </p:nvSpPr>
        <p:spPr>
          <a:xfrm>
            <a:off x="3200400" y="1298448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2EFD71A-9E75-A501-983A-B3F9C33BAFC0}"/>
              </a:ext>
            </a:extLst>
          </p:cNvPr>
          <p:cNvSpPr/>
          <p:nvPr/>
        </p:nvSpPr>
        <p:spPr>
          <a:xfrm>
            <a:off x="3310128" y="12984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2011 vs 2001 correlation: r = 0.879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0523938-D68F-AFDB-8393-E1B24074A1E9}"/>
              </a:ext>
            </a:extLst>
          </p:cNvPr>
          <p:cNvSpPr/>
          <p:nvPr/>
        </p:nvSpPr>
        <p:spPr>
          <a:xfrm>
            <a:off x="3200400" y="1956816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11FF70-27A1-97CF-C6AD-52A6645851A9}"/>
              </a:ext>
            </a:extLst>
          </p:cNvPr>
          <p:cNvSpPr/>
          <p:nvPr/>
        </p:nvSpPr>
        <p:spPr>
          <a:xfrm>
            <a:off x="3310128" y="1956816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>
                <a:solidFill>
                  <a:schemeClr val="bg2">
                    <a:lumMod val="90000"/>
                  </a:schemeClr>
                </a:solidFill>
              </a:rPr>
              <a:t>gender gap exists everywhere</a:t>
            </a:r>
            <a:endParaRPr lang="en-US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8AC0C4-EE93-D524-70D6-F7079BDAEBBE}"/>
              </a:ext>
            </a:extLst>
          </p:cNvPr>
          <p:cNvSpPr/>
          <p:nvPr/>
        </p:nvSpPr>
        <p:spPr>
          <a:xfrm>
            <a:off x="3200400" y="2615184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A658F4F-929E-F574-8507-80030DE8DB3E}"/>
              </a:ext>
            </a:extLst>
          </p:cNvPr>
          <p:cNvSpPr/>
          <p:nvPr/>
        </p:nvSpPr>
        <p:spPr>
          <a:xfrm>
            <a:off x="3310128" y="2615184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pop mean: 88,432 per district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F19EF37-F59E-ECFD-1AE8-EF70551A437D}"/>
              </a:ext>
            </a:extLst>
          </p:cNvPr>
          <p:cNvSpPr/>
          <p:nvPr/>
        </p:nvSpPr>
        <p:spPr>
          <a:xfrm>
            <a:off x="6126480" y="841248"/>
            <a:ext cx="27432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64B299E-E914-EB2C-588E-93C8B0ADA26B}"/>
              </a:ext>
            </a:extLst>
          </p:cNvPr>
          <p:cNvSpPr/>
          <p:nvPr/>
        </p:nvSpPr>
        <p:spPr>
          <a:xfrm>
            <a:off x="612648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3723C9B-1D24-5EF4-C178-6F12E425DFEC}"/>
              </a:ext>
            </a:extLst>
          </p:cNvPr>
          <p:cNvSpPr/>
          <p:nvPr/>
        </p:nvSpPr>
        <p:spPr>
          <a:xfrm>
            <a:off x="6126480" y="1298448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8EB88D4-BD00-AAF0-E17F-CBB1828ED493}"/>
              </a:ext>
            </a:extLst>
          </p:cNvPr>
          <p:cNvSpPr/>
          <p:nvPr/>
        </p:nvSpPr>
        <p:spPr>
          <a:xfrm>
            <a:off x="6236208" y="12984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(k=3): 3 district clusters identified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A721713-25C4-89A1-5459-C7DAED560FA9}"/>
              </a:ext>
            </a:extLst>
          </p:cNvPr>
          <p:cNvSpPr/>
          <p:nvPr/>
        </p:nvSpPr>
        <p:spPr>
          <a:xfrm>
            <a:off x="6126480" y="1956816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A0C2FB4-10FA-4E7C-A50F-E0BDFE09FC7D}"/>
              </a:ext>
            </a:extLst>
          </p:cNvPr>
          <p:cNvSpPr/>
          <p:nvPr/>
        </p:nvSpPr>
        <p:spPr>
          <a:xfrm>
            <a:off x="6236208" y="1956816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= large urban districts (Ludhiana)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C09AEDC-32BF-5ADA-D01B-C3A15F0F7594}"/>
              </a:ext>
            </a:extLst>
          </p:cNvPr>
          <p:cNvSpPr/>
          <p:nvPr/>
        </p:nvSpPr>
        <p:spPr>
          <a:xfrm>
            <a:off x="6126480" y="2615184"/>
            <a:ext cx="2743200" cy="594360"/>
          </a:xfrm>
          <a:prstGeom prst="rect">
            <a:avLst/>
          </a:prstGeom>
          <a:solidFill>
            <a:srgbClr val="1E2E55"/>
          </a:solidFill>
          <a:ln w="6350">
            <a:solidFill>
              <a:srgbClr val="2A3D6A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C0A5955-4F13-D665-34EB-C9F46872DDE7}"/>
              </a:ext>
            </a:extLst>
          </p:cNvPr>
          <p:cNvSpPr/>
          <p:nvPr/>
        </p:nvSpPr>
        <p:spPr>
          <a:xfrm>
            <a:off x="6236208" y="2615184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(k=3): 3 district clusters identified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" name="Graphic 2" descr="Customer review with solid fill">
            <a:extLst>
              <a:ext uri="{FF2B5EF4-FFF2-40B4-BE49-F238E27FC236}">
                <a16:creationId xmlns:a16="http://schemas.microsoft.com/office/drawing/2014/main" id="{D68B21B7-62D7-4009-A7E5-004E6F86D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1488" y="3368802"/>
            <a:ext cx="1627632" cy="162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7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F4A535"/>
          </a:solidFill>
          <a:ln w="12700">
            <a:solidFill>
              <a:srgbClr val="F4A5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955</Words>
  <Application>Microsoft Office PowerPoint</Application>
  <PresentationFormat>On-screen Show (16:9)</PresentationFormat>
  <Paragraphs>234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Punjab Census EDA - District-wise Analysis</dc:title>
  <dc:subject>PptxGenJS Presentation</dc:subject>
  <dc:creator>PptxGenJS</dc:creator>
  <cp:lastModifiedBy>kritika04092002@gmail.com</cp:lastModifiedBy>
  <cp:revision>35</cp:revision>
  <dcterms:created xsi:type="dcterms:W3CDTF">2026-04-20T16:37:02Z</dcterms:created>
  <dcterms:modified xsi:type="dcterms:W3CDTF">2026-05-02T05:16:15Z</dcterms:modified>
</cp:coreProperties>
</file>